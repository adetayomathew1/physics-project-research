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4"/>
  </p:notesMasterIdLst>
  <p:sldIdLst>
    <p:sldId id="256" r:id="rId5"/>
    <p:sldId id="277" r:id="rId6"/>
    <p:sldId id="279" r:id="rId7"/>
    <p:sldId id="278" r:id="rId8"/>
    <p:sldId id="280" r:id="rId9"/>
    <p:sldId id="281" r:id="rId10"/>
    <p:sldId id="282" r:id="rId11"/>
    <p:sldId id="283" r:id="rId12"/>
    <p:sldId id="28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2317FB-812D-4059-B263-8ED8B2448E0D}" v="1" dt="2025-09-17T03:20:09.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E730F6-1592-4175-A617-4040714486D4}"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77EF57C8-06B3-45A4-8D44-8C45A81EE673}">
      <dgm:prSet custT="1"/>
      <dgm:spPr/>
      <dgm:t>
        <a:bodyPr/>
        <a:lstStyle/>
        <a:p>
          <a:pPr>
            <a:lnSpc>
              <a:spcPct val="100000"/>
            </a:lnSpc>
            <a:defRPr cap="all"/>
          </a:pPr>
          <a:r>
            <a:rPr lang="en-US" sz="1600" b="1" cap="none" dirty="0">
              <a:latin typeface="Calibri" panose="020F0502020204030204" pitchFamily="34" charset="0"/>
              <a:ea typeface="Calibri" panose="020F0502020204030204" pitchFamily="34" charset="0"/>
              <a:cs typeface="Calibri" panose="020F0502020204030204" pitchFamily="34" charset="0"/>
            </a:rPr>
            <a:t>What is chaos</a:t>
          </a:r>
          <a:r>
            <a:rPr lang="en-US" sz="1600" cap="none" dirty="0">
              <a:latin typeface="Calibri" panose="020F0502020204030204" pitchFamily="34" charset="0"/>
              <a:ea typeface="Calibri" panose="020F0502020204030204" pitchFamily="34" charset="0"/>
              <a:cs typeface="Calibri" panose="020F0502020204030204" pitchFamily="34" charset="0"/>
            </a:rPr>
            <a:t>? small changes can lead to vast differences in a system over time. think of the butterfly effect</a:t>
          </a:r>
          <a:r>
            <a:rPr lang="en-US" sz="1600" dirty="0">
              <a:latin typeface="Calibri" panose="020F0502020204030204" pitchFamily="34" charset="0"/>
              <a:ea typeface="Calibri" panose="020F0502020204030204" pitchFamily="34" charset="0"/>
              <a:cs typeface="Calibri" panose="020F0502020204030204" pitchFamily="34" charset="0"/>
            </a:rPr>
            <a:t>.</a:t>
          </a:r>
        </a:p>
      </dgm:t>
    </dgm:pt>
    <dgm:pt modelId="{9FA6A496-67D2-4F2B-AF58-01A8EF926233}" type="parTrans" cxnId="{63D8369B-45EA-41CE-83AF-2328A4AFEA16}">
      <dgm:prSet/>
      <dgm:spPr/>
      <dgm:t>
        <a:bodyPr/>
        <a:lstStyle/>
        <a:p>
          <a:endParaRPr lang="en-US"/>
        </a:p>
      </dgm:t>
    </dgm:pt>
    <dgm:pt modelId="{884C78E1-CF8C-4F1E-9964-5C25DD31E1AC}" type="sibTrans" cxnId="{63D8369B-45EA-41CE-83AF-2328A4AFEA16}">
      <dgm:prSet/>
      <dgm:spPr/>
      <dgm:t>
        <a:bodyPr/>
        <a:lstStyle/>
        <a:p>
          <a:endParaRPr lang="en-US"/>
        </a:p>
      </dgm:t>
    </dgm:pt>
    <dgm:pt modelId="{1D11A9A5-52B0-4523-8046-683EAFF76F4C}">
      <dgm:prSet custT="1"/>
      <dgm:spPr/>
      <dgm:t>
        <a:bodyPr/>
        <a:lstStyle/>
        <a:p>
          <a:pPr>
            <a:lnSpc>
              <a:spcPct val="100000"/>
            </a:lnSpc>
            <a:defRPr cap="all"/>
          </a:pPr>
          <a:r>
            <a:rPr lang="en-US" sz="1600" b="1" kern="1200" cap="none" dirty="0">
              <a:latin typeface="Calibri" panose="020F0502020204030204" pitchFamily="34" charset="0"/>
              <a:ea typeface="Calibri" panose="020F0502020204030204" pitchFamily="34" charset="0"/>
              <a:cs typeface="Calibri" panose="020F0502020204030204" pitchFamily="34" charset="0"/>
            </a:rPr>
            <a:t>What is a memristive system? </a:t>
          </a:r>
          <a:r>
            <a:rPr lang="en-US" sz="1600" kern="1200" cap="none" dirty="0">
              <a:latin typeface="Calibri" panose="020F0502020204030204" pitchFamily="34" charset="0"/>
              <a:ea typeface="Calibri" panose="020F0502020204030204" pitchFamily="34" charset="0"/>
              <a:cs typeface="Calibri" panose="020F0502020204030204" pitchFamily="34" charset="0"/>
            </a:rPr>
            <a:t>a memristive system is a class of nonlinear dynamical systems whose </a:t>
          </a:r>
          <a:r>
            <a:rPr lang="en-US" sz="1600" kern="1200" cap="none" dirty="0">
              <a:solidFill>
                <a:prstClr val="black">
                  <a:hueOff val="0"/>
                  <a:satOff val="0"/>
                  <a:lumOff val="0"/>
                  <a:alphaOff val="0"/>
                </a:prstClr>
              </a:solidFill>
              <a:latin typeface="Calibri" panose="020F0502020204030204" pitchFamily="34" charset="0"/>
              <a:ea typeface="Calibri" panose="020F0502020204030204" pitchFamily="34" charset="0"/>
              <a:cs typeface="Calibri" panose="020F0502020204030204" pitchFamily="34" charset="0"/>
            </a:rPr>
            <a:t>resistance</a:t>
          </a:r>
          <a:r>
            <a:rPr lang="en-US" sz="1600" kern="1200" cap="none" dirty="0">
              <a:latin typeface="Calibri" panose="020F0502020204030204" pitchFamily="34" charset="0"/>
              <a:ea typeface="Calibri" panose="020F0502020204030204" pitchFamily="34" charset="0"/>
              <a:cs typeface="Calibri" panose="020F0502020204030204" pitchFamily="34" charset="0"/>
            </a:rPr>
            <a:t> depends on the history of the current or voltage applied to them. the concept was first introduced by </a:t>
          </a:r>
          <a:r>
            <a:rPr lang="en-US" sz="1600" kern="1200" cap="none" dirty="0" err="1">
              <a:latin typeface="Calibri" panose="020F0502020204030204" pitchFamily="34" charset="0"/>
              <a:ea typeface="Calibri" panose="020F0502020204030204" pitchFamily="34" charset="0"/>
              <a:cs typeface="Calibri" panose="020F0502020204030204" pitchFamily="34" charset="0"/>
            </a:rPr>
            <a:t>chua</a:t>
          </a:r>
          <a:r>
            <a:rPr lang="en-US" sz="1600" kern="1200" cap="none" dirty="0">
              <a:latin typeface="Calibri" panose="020F0502020204030204" pitchFamily="34" charset="0"/>
              <a:ea typeface="Calibri" panose="020F0502020204030204" pitchFamily="34" charset="0"/>
              <a:cs typeface="Calibri" panose="020F0502020204030204" pitchFamily="34" charset="0"/>
            </a:rPr>
            <a:t> 1971, who introduced the memristor as the fourth fundamental circuit element</a:t>
          </a:r>
          <a:r>
            <a:rPr lang="en-US" sz="1600" kern="1200" dirty="0">
              <a:latin typeface="Calibri" panose="020F0502020204030204" pitchFamily="34" charset="0"/>
              <a:ea typeface="Calibri" panose="020F0502020204030204" pitchFamily="34" charset="0"/>
              <a:cs typeface="Calibri" panose="020F0502020204030204" pitchFamily="34" charset="0"/>
            </a:rPr>
            <a:t>.</a:t>
          </a:r>
        </a:p>
      </dgm:t>
    </dgm:pt>
    <dgm:pt modelId="{6745729A-F1C7-46A6-AAE6-B1A826F1D7B2}" type="parTrans" cxnId="{6D0222AD-7B99-4CCB-88CF-F45DA840CF25}">
      <dgm:prSet/>
      <dgm:spPr/>
      <dgm:t>
        <a:bodyPr/>
        <a:lstStyle/>
        <a:p>
          <a:endParaRPr lang="en-US"/>
        </a:p>
      </dgm:t>
    </dgm:pt>
    <dgm:pt modelId="{C9FEE6FB-D9D2-4835-95D0-55DE3745EB5C}" type="sibTrans" cxnId="{6D0222AD-7B99-4CCB-88CF-F45DA840CF25}">
      <dgm:prSet/>
      <dgm:spPr/>
      <dgm:t>
        <a:bodyPr/>
        <a:lstStyle/>
        <a:p>
          <a:endParaRPr lang="en-US"/>
        </a:p>
      </dgm:t>
    </dgm:pt>
    <dgm:pt modelId="{64580274-E24C-4C7D-887E-F3BA28DF6BAC}">
      <dgm:prSet custT="1"/>
      <dgm:spPr/>
      <dgm:t>
        <a:bodyPr/>
        <a:lstStyle/>
        <a:p>
          <a:pPr>
            <a:lnSpc>
              <a:spcPct val="100000"/>
            </a:lnSpc>
            <a:defRPr cap="all"/>
          </a:pPr>
          <a:r>
            <a:rPr lang="en-US" sz="1600" b="1" cap="none" dirty="0">
              <a:latin typeface="Calibri" panose="020F0502020204030204" pitchFamily="34" charset="0"/>
              <a:ea typeface="Calibri" panose="020F0502020204030204" pitchFamily="34" charset="0"/>
              <a:cs typeface="Calibri" panose="020F0502020204030204" pitchFamily="34" charset="0"/>
            </a:rPr>
            <a:t>What is  reservoir computing? </a:t>
          </a:r>
          <a:r>
            <a:rPr lang="en-US" sz="1600" b="0" cap="none" dirty="0">
              <a:latin typeface="Calibri" panose="020F0502020204030204" pitchFamily="34" charset="0"/>
              <a:ea typeface="Calibri" panose="020F0502020204030204" pitchFamily="34" charset="0"/>
              <a:cs typeface="Calibri" panose="020F0502020204030204" pitchFamily="34" charset="0"/>
            </a:rPr>
            <a:t>an</a:t>
          </a:r>
          <a:r>
            <a:rPr lang="en-US" sz="1600" cap="none" dirty="0">
              <a:latin typeface="Calibri" panose="020F0502020204030204" pitchFamily="34" charset="0"/>
              <a:ea typeface="Calibri" panose="020F0502020204030204" pitchFamily="34" charset="0"/>
              <a:cs typeface="Calibri" panose="020F0502020204030204" pitchFamily="34" charset="0"/>
            </a:rPr>
            <a:t> extension of artificial neural networks where only the output weights are changed </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A0A6AEDC-A8BF-4EF9-B064-889F38C2A6F5}" type="parTrans" cxnId="{156EA1A3-9096-4CA8-9642-C618FE340874}">
      <dgm:prSet/>
      <dgm:spPr/>
      <dgm:t>
        <a:bodyPr/>
        <a:lstStyle/>
        <a:p>
          <a:endParaRPr lang="en-US"/>
        </a:p>
      </dgm:t>
    </dgm:pt>
    <dgm:pt modelId="{1BA74B93-B437-4E3E-9F2E-A7EE096D110E}" type="sibTrans" cxnId="{156EA1A3-9096-4CA8-9642-C618FE340874}">
      <dgm:prSet/>
      <dgm:spPr/>
      <dgm:t>
        <a:bodyPr/>
        <a:lstStyle/>
        <a:p>
          <a:endParaRPr lang="en-US"/>
        </a:p>
      </dgm:t>
    </dgm:pt>
    <dgm:pt modelId="{1D84E84A-95BC-48FA-9468-FF15376467A9}">
      <dgm:prSet custT="1"/>
      <dgm:spPr/>
      <dgm:t>
        <a:bodyPr/>
        <a:lstStyle/>
        <a:p>
          <a:pPr>
            <a:lnSpc>
              <a:spcPct val="100000"/>
            </a:lnSpc>
            <a:defRPr cap="all"/>
          </a:pPr>
          <a:r>
            <a:rPr lang="en-US" sz="1400" b="1" cap="none" dirty="0">
              <a:latin typeface="Calibri" panose="020F0502020204030204" pitchFamily="34" charset="0"/>
              <a:ea typeface="Calibri" panose="020F0502020204030204" pitchFamily="34" charset="0"/>
              <a:cs typeface="Calibri" panose="020F0502020204030204" pitchFamily="34" charset="0"/>
            </a:rPr>
            <a:t>What is the aim of this project</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cap="none" dirty="0">
              <a:latin typeface="Calibri" panose="020F0502020204030204" pitchFamily="34" charset="0"/>
              <a:ea typeface="Calibri" panose="020F0502020204030204" pitchFamily="34" charset="0"/>
              <a:cs typeface="Calibri" panose="020F0502020204030204" pitchFamily="34" charset="0"/>
            </a:rPr>
            <a:t>to use machine learning (reservoir computing) to model and predict the system’s behavior over time</a:t>
          </a:r>
          <a:r>
            <a:rPr lang="en-US" sz="1400" dirty="0">
              <a:latin typeface="Calibri" panose="020F0502020204030204" pitchFamily="34" charset="0"/>
              <a:ea typeface="Calibri" panose="020F0502020204030204" pitchFamily="34" charset="0"/>
              <a:cs typeface="Calibri" panose="020F0502020204030204" pitchFamily="34" charset="0"/>
            </a:rPr>
            <a:t>.</a:t>
          </a:r>
        </a:p>
      </dgm:t>
    </dgm:pt>
    <dgm:pt modelId="{03A6C1FC-258F-44C1-9BD5-A9BFE8EBCD2F}" type="parTrans" cxnId="{9DD3E160-7EF1-4E14-8AC8-B2BEF5672B48}">
      <dgm:prSet/>
      <dgm:spPr/>
      <dgm:t>
        <a:bodyPr/>
        <a:lstStyle/>
        <a:p>
          <a:endParaRPr lang="en-US"/>
        </a:p>
      </dgm:t>
    </dgm:pt>
    <dgm:pt modelId="{20AB5F3C-AD49-43CF-8E61-90CD41C1CBC1}" type="sibTrans" cxnId="{9DD3E160-7EF1-4E14-8AC8-B2BEF5672B48}">
      <dgm:prSet/>
      <dgm:spPr/>
      <dgm:t>
        <a:bodyPr/>
        <a:lstStyle/>
        <a:p>
          <a:endParaRPr lang="en-US"/>
        </a:p>
      </dgm:t>
    </dgm:pt>
    <dgm:pt modelId="{A5205305-9518-49AD-8EFD-A871E7DA4074}" type="pres">
      <dgm:prSet presAssocID="{07E730F6-1592-4175-A617-4040714486D4}" presName="root" presStyleCnt="0">
        <dgm:presLayoutVars>
          <dgm:dir/>
          <dgm:resizeHandles val="exact"/>
        </dgm:presLayoutVars>
      </dgm:prSet>
      <dgm:spPr/>
    </dgm:pt>
    <dgm:pt modelId="{34506FAC-758A-478F-AD93-B89B3C26BC92}" type="pres">
      <dgm:prSet presAssocID="{77EF57C8-06B3-45A4-8D44-8C45A81EE673}" presName="compNode" presStyleCnt="0"/>
      <dgm:spPr/>
    </dgm:pt>
    <dgm:pt modelId="{EA17FD71-8392-40F3-90BB-9F1C20C9A062}" type="pres">
      <dgm:prSet presAssocID="{77EF57C8-06B3-45A4-8D44-8C45A81EE673}" presName="iconBgRect" presStyleLbl="bgShp" presStyleIdx="0" presStyleCnt="4" custLinFactNeighborX="-1907" custLinFactNeighborY="4620"/>
      <dgm:spPr/>
    </dgm:pt>
    <dgm:pt modelId="{8E6B0E8F-5BDD-40B7-843A-0585794A3CAA}" type="pres">
      <dgm:prSet presAssocID="{77EF57C8-06B3-45A4-8D44-8C45A81EE67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tterfly"/>
        </a:ext>
      </dgm:extLst>
    </dgm:pt>
    <dgm:pt modelId="{5C6A5989-C97D-4306-9953-CF2379AC524D}" type="pres">
      <dgm:prSet presAssocID="{77EF57C8-06B3-45A4-8D44-8C45A81EE673}" presName="spaceRect" presStyleCnt="0"/>
      <dgm:spPr/>
    </dgm:pt>
    <dgm:pt modelId="{D38BDAA1-B02B-4FC1-96C5-E1090C6D95DD}" type="pres">
      <dgm:prSet presAssocID="{77EF57C8-06B3-45A4-8D44-8C45A81EE673}" presName="textRect" presStyleLbl="revTx" presStyleIdx="0" presStyleCnt="4">
        <dgm:presLayoutVars>
          <dgm:chMax val="1"/>
          <dgm:chPref val="1"/>
        </dgm:presLayoutVars>
      </dgm:prSet>
      <dgm:spPr/>
    </dgm:pt>
    <dgm:pt modelId="{6FE5B73A-60A1-4C01-B176-E321A0A1988A}" type="pres">
      <dgm:prSet presAssocID="{884C78E1-CF8C-4F1E-9964-5C25DD31E1AC}" presName="sibTrans" presStyleCnt="0"/>
      <dgm:spPr/>
    </dgm:pt>
    <dgm:pt modelId="{5D7BB61C-8CB2-459D-9DDE-99788433586B}" type="pres">
      <dgm:prSet presAssocID="{1D11A9A5-52B0-4523-8046-683EAFF76F4C}" presName="compNode" presStyleCnt="0"/>
      <dgm:spPr/>
    </dgm:pt>
    <dgm:pt modelId="{A56DE134-FDEB-4E58-B9F7-10CD656F9AC0}" type="pres">
      <dgm:prSet presAssocID="{1D11A9A5-52B0-4523-8046-683EAFF76F4C}" presName="iconBgRect" presStyleLbl="bgShp" presStyleIdx="1" presStyleCnt="4"/>
      <dgm:spPr/>
    </dgm:pt>
    <dgm:pt modelId="{A7BDAEC5-60D0-4B63-8880-EE34A7733B9B}" type="pres">
      <dgm:prSet presAssocID="{1D11A9A5-52B0-4523-8046-683EAFF76F4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7384F6AE-A7BE-49F7-BDAF-E9FDE5732A82}" type="pres">
      <dgm:prSet presAssocID="{1D11A9A5-52B0-4523-8046-683EAFF76F4C}" presName="spaceRect" presStyleCnt="0"/>
      <dgm:spPr/>
    </dgm:pt>
    <dgm:pt modelId="{117C19DC-F6FB-4E36-9684-5DCE057F8607}" type="pres">
      <dgm:prSet presAssocID="{1D11A9A5-52B0-4523-8046-683EAFF76F4C}" presName="textRect" presStyleLbl="revTx" presStyleIdx="1" presStyleCnt="4" custScaleX="279303" custScaleY="108817">
        <dgm:presLayoutVars>
          <dgm:chMax val="1"/>
          <dgm:chPref val="1"/>
        </dgm:presLayoutVars>
      </dgm:prSet>
      <dgm:spPr/>
    </dgm:pt>
    <dgm:pt modelId="{5FCBE217-A6BE-47F9-862D-746192069EF0}" type="pres">
      <dgm:prSet presAssocID="{C9FEE6FB-D9D2-4835-95D0-55DE3745EB5C}" presName="sibTrans" presStyleCnt="0"/>
      <dgm:spPr/>
    </dgm:pt>
    <dgm:pt modelId="{F7CA5146-7961-4ADB-B0C8-0ACC482F3F79}" type="pres">
      <dgm:prSet presAssocID="{64580274-E24C-4C7D-887E-F3BA28DF6BAC}" presName="compNode" presStyleCnt="0"/>
      <dgm:spPr/>
    </dgm:pt>
    <dgm:pt modelId="{96087A17-357E-41D2-9DEA-4ACE7E73F7F8}" type="pres">
      <dgm:prSet presAssocID="{64580274-E24C-4C7D-887E-F3BA28DF6BAC}" presName="iconBgRect" presStyleLbl="bgShp" presStyleIdx="2" presStyleCnt="4"/>
      <dgm:spPr/>
    </dgm:pt>
    <dgm:pt modelId="{3CE0FDE0-5209-4EC8-AA9F-1F0DED81CA61}" type="pres">
      <dgm:prSet presAssocID="{64580274-E24C-4C7D-887E-F3BA28DF6B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47A42BD8-7033-4E7F-A27C-4D1ED43884CB}" type="pres">
      <dgm:prSet presAssocID="{64580274-E24C-4C7D-887E-F3BA28DF6BAC}" presName="spaceRect" presStyleCnt="0"/>
      <dgm:spPr/>
    </dgm:pt>
    <dgm:pt modelId="{4F963BC7-847F-4390-9614-F7D051DCDBC1}" type="pres">
      <dgm:prSet presAssocID="{64580274-E24C-4C7D-887E-F3BA28DF6BAC}" presName="textRect" presStyleLbl="revTx" presStyleIdx="2" presStyleCnt="4">
        <dgm:presLayoutVars>
          <dgm:chMax val="1"/>
          <dgm:chPref val="1"/>
        </dgm:presLayoutVars>
      </dgm:prSet>
      <dgm:spPr/>
    </dgm:pt>
    <dgm:pt modelId="{28AE9B6C-1C30-4A07-9919-41200C87212A}" type="pres">
      <dgm:prSet presAssocID="{1BA74B93-B437-4E3E-9F2E-A7EE096D110E}" presName="sibTrans" presStyleCnt="0"/>
      <dgm:spPr/>
    </dgm:pt>
    <dgm:pt modelId="{A48C03D1-F44F-4307-BD85-5E5A71DBAFE2}" type="pres">
      <dgm:prSet presAssocID="{1D84E84A-95BC-48FA-9468-FF15376467A9}" presName="compNode" presStyleCnt="0"/>
      <dgm:spPr/>
    </dgm:pt>
    <dgm:pt modelId="{4E356F2E-5AA7-40FF-B514-DB8AE5DD98FF}" type="pres">
      <dgm:prSet presAssocID="{1D84E84A-95BC-48FA-9468-FF15376467A9}" presName="iconBgRect" presStyleLbl="bgShp" presStyleIdx="3" presStyleCnt="4"/>
      <dgm:spPr/>
    </dgm:pt>
    <dgm:pt modelId="{485F0C69-9489-48A0-89E8-4D1345FCECBC}" type="pres">
      <dgm:prSet presAssocID="{1D84E84A-95BC-48FA-9468-FF15376467A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FB261253-0431-4CFB-83FA-2318CC76F28E}" type="pres">
      <dgm:prSet presAssocID="{1D84E84A-95BC-48FA-9468-FF15376467A9}" presName="spaceRect" presStyleCnt="0"/>
      <dgm:spPr/>
    </dgm:pt>
    <dgm:pt modelId="{EB5A955E-B79C-4214-8690-A52118509EF7}" type="pres">
      <dgm:prSet presAssocID="{1D84E84A-95BC-48FA-9468-FF15376467A9}" presName="textRect" presStyleLbl="revTx" presStyleIdx="3" presStyleCnt="4">
        <dgm:presLayoutVars>
          <dgm:chMax val="1"/>
          <dgm:chPref val="1"/>
        </dgm:presLayoutVars>
      </dgm:prSet>
      <dgm:spPr/>
    </dgm:pt>
  </dgm:ptLst>
  <dgm:cxnLst>
    <dgm:cxn modelId="{9951630B-F1D4-4F88-8972-080828A0D8D1}" type="presOf" srcId="{1D84E84A-95BC-48FA-9468-FF15376467A9}" destId="{EB5A955E-B79C-4214-8690-A52118509EF7}" srcOrd="0" destOrd="0" presId="urn:microsoft.com/office/officeart/2018/5/layout/IconCircleLabelList"/>
    <dgm:cxn modelId="{CC87F518-4E7F-419D-9D7E-6AA1DB1812BD}" type="presOf" srcId="{77EF57C8-06B3-45A4-8D44-8C45A81EE673}" destId="{D38BDAA1-B02B-4FC1-96C5-E1090C6D95DD}" srcOrd="0" destOrd="0" presId="urn:microsoft.com/office/officeart/2018/5/layout/IconCircleLabelList"/>
    <dgm:cxn modelId="{9DD3E160-7EF1-4E14-8AC8-B2BEF5672B48}" srcId="{07E730F6-1592-4175-A617-4040714486D4}" destId="{1D84E84A-95BC-48FA-9468-FF15376467A9}" srcOrd="3" destOrd="0" parTransId="{03A6C1FC-258F-44C1-9BD5-A9BFE8EBCD2F}" sibTransId="{20AB5F3C-AD49-43CF-8E61-90CD41C1CBC1}"/>
    <dgm:cxn modelId="{0849BD96-3E37-4FB1-93AF-8E4E1B47883A}" type="presOf" srcId="{64580274-E24C-4C7D-887E-F3BA28DF6BAC}" destId="{4F963BC7-847F-4390-9614-F7D051DCDBC1}" srcOrd="0" destOrd="0" presId="urn:microsoft.com/office/officeart/2018/5/layout/IconCircleLabelList"/>
    <dgm:cxn modelId="{63D8369B-45EA-41CE-83AF-2328A4AFEA16}" srcId="{07E730F6-1592-4175-A617-4040714486D4}" destId="{77EF57C8-06B3-45A4-8D44-8C45A81EE673}" srcOrd="0" destOrd="0" parTransId="{9FA6A496-67D2-4F2B-AF58-01A8EF926233}" sibTransId="{884C78E1-CF8C-4F1E-9964-5C25DD31E1AC}"/>
    <dgm:cxn modelId="{9757FAA1-CFF5-4117-A6E6-6D3938D2DA98}" type="presOf" srcId="{07E730F6-1592-4175-A617-4040714486D4}" destId="{A5205305-9518-49AD-8EFD-A871E7DA4074}" srcOrd="0" destOrd="0" presId="urn:microsoft.com/office/officeart/2018/5/layout/IconCircleLabelList"/>
    <dgm:cxn modelId="{156EA1A3-9096-4CA8-9642-C618FE340874}" srcId="{07E730F6-1592-4175-A617-4040714486D4}" destId="{64580274-E24C-4C7D-887E-F3BA28DF6BAC}" srcOrd="2" destOrd="0" parTransId="{A0A6AEDC-A8BF-4EF9-B064-889F38C2A6F5}" sibTransId="{1BA74B93-B437-4E3E-9F2E-A7EE096D110E}"/>
    <dgm:cxn modelId="{6D0222AD-7B99-4CCB-88CF-F45DA840CF25}" srcId="{07E730F6-1592-4175-A617-4040714486D4}" destId="{1D11A9A5-52B0-4523-8046-683EAFF76F4C}" srcOrd="1" destOrd="0" parTransId="{6745729A-F1C7-46A6-AAE6-B1A826F1D7B2}" sibTransId="{C9FEE6FB-D9D2-4835-95D0-55DE3745EB5C}"/>
    <dgm:cxn modelId="{22DC66DE-5002-4EE4-9D38-EEAAAB0CF7BD}" type="presOf" srcId="{1D11A9A5-52B0-4523-8046-683EAFF76F4C}" destId="{117C19DC-F6FB-4E36-9684-5DCE057F8607}" srcOrd="0" destOrd="0" presId="urn:microsoft.com/office/officeart/2018/5/layout/IconCircleLabelList"/>
    <dgm:cxn modelId="{CE3210F5-26D7-4BD9-AB51-877502B1EE2E}" type="presParOf" srcId="{A5205305-9518-49AD-8EFD-A871E7DA4074}" destId="{34506FAC-758A-478F-AD93-B89B3C26BC92}" srcOrd="0" destOrd="0" presId="urn:microsoft.com/office/officeart/2018/5/layout/IconCircleLabelList"/>
    <dgm:cxn modelId="{28E4374D-FB00-406A-ABFE-A2921F463404}" type="presParOf" srcId="{34506FAC-758A-478F-AD93-B89B3C26BC92}" destId="{EA17FD71-8392-40F3-90BB-9F1C20C9A062}" srcOrd="0" destOrd="0" presId="urn:microsoft.com/office/officeart/2018/5/layout/IconCircleLabelList"/>
    <dgm:cxn modelId="{CD24F966-D869-4338-9E29-CFADDE7DA212}" type="presParOf" srcId="{34506FAC-758A-478F-AD93-B89B3C26BC92}" destId="{8E6B0E8F-5BDD-40B7-843A-0585794A3CAA}" srcOrd="1" destOrd="0" presId="urn:microsoft.com/office/officeart/2018/5/layout/IconCircleLabelList"/>
    <dgm:cxn modelId="{9D204DB3-B21A-417D-889B-60722579A8AE}" type="presParOf" srcId="{34506FAC-758A-478F-AD93-B89B3C26BC92}" destId="{5C6A5989-C97D-4306-9953-CF2379AC524D}" srcOrd="2" destOrd="0" presId="urn:microsoft.com/office/officeart/2018/5/layout/IconCircleLabelList"/>
    <dgm:cxn modelId="{DF8FB019-3717-48A9-B3E7-63278C4D2566}" type="presParOf" srcId="{34506FAC-758A-478F-AD93-B89B3C26BC92}" destId="{D38BDAA1-B02B-4FC1-96C5-E1090C6D95DD}" srcOrd="3" destOrd="0" presId="urn:microsoft.com/office/officeart/2018/5/layout/IconCircleLabelList"/>
    <dgm:cxn modelId="{FE1F8D87-95C0-4C96-BF2D-8CE65BEB6D9F}" type="presParOf" srcId="{A5205305-9518-49AD-8EFD-A871E7DA4074}" destId="{6FE5B73A-60A1-4C01-B176-E321A0A1988A}" srcOrd="1" destOrd="0" presId="urn:microsoft.com/office/officeart/2018/5/layout/IconCircleLabelList"/>
    <dgm:cxn modelId="{CC4E7B96-9FA0-4B3F-B4DC-E4A24E179219}" type="presParOf" srcId="{A5205305-9518-49AD-8EFD-A871E7DA4074}" destId="{5D7BB61C-8CB2-459D-9DDE-99788433586B}" srcOrd="2" destOrd="0" presId="urn:microsoft.com/office/officeart/2018/5/layout/IconCircleLabelList"/>
    <dgm:cxn modelId="{FF395EB1-20D6-4AA8-82FE-A071F114A539}" type="presParOf" srcId="{5D7BB61C-8CB2-459D-9DDE-99788433586B}" destId="{A56DE134-FDEB-4E58-B9F7-10CD656F9AC0}" srcOrd="0" destOrd="0" presId="urn:microsoft.com/office/officeart/2018/5/layout/IconCircleLabelList"/>
    <dgm:cxn modelId="{489FD9D6-2DB9-44FE-BAE6-8442AED249EE}" type="presParOf" srcId="{5D7BB61C-8CB2-459D-9DDE-99788433586B}" destId="{A7BDAEC5-60D0-4B63-8880-EE34A7733B9B}" srcOrd="1" destOrd="0" presId="urn:microsoft.com/office/officeart/2018/5/layout/IconCircleLabelList"/>
    <dgm:cxn modelId="{0B7AA4DD-6F72-4906-98F4-3738687E7801}" type="presParOf" srcId="{5D7BB61C-8CB2-459D-9DDE-99788433586B}" destId="{7384F6AE-A7BE-49F7-BDAF-E9FDE5732A82}" srcOrd="2" destOrd="0" presId="urn:microsoft.com/office/officeart/2018/5/layout/IconCircleLabelList"/>
    <dgm:cxn modelId="{FAF9E338-53E2-4D97-8E6F-55B8DF5D6242}" type="presParOf" srcId="{5D7BB61C-8CB2-459D-9DDE-99788433586B}" destId="{117C19DC-F6FB-4E36-9684-5DCE057F8607}" srcOrd="3" destOrd="0" presId="urn:microsoft.com/office/officeart/2018/5/layout/IconCircleLabelList"/>
    <dgm:cxn modelId="{92393CEB-6F05-41A0-A9AA-BE99621CAE06}" type="presParOf" srcId="{A5205305-9518-49AD-8EFD-A871E7DA4074}" destId="{5FCBE217-A6BE-47F9-862D-746192069EF0}" srcOrd="3" destOrd="0" presId="urn:microsoft.com/office/officeart/2018/5/layout/IconCircleLabelList"/>
    <dgm:cxn modelId="{DB347F3B-C6BD-46B6-983E-A836293BA93C}" type="presParOf" srcId="{A5205305-9518-49AD-8EFD-A871E7DA4074}" destId="{F7CA5146-7961-4ADB-B0C8-0ACC482F3F79}" srcOrd="4" destOrd="0" presId="urn:microsoft.com/office/officeart/2018/5/layout/IconCircleLabelList"/>
    <dgm:cxn modelId="{89C46D7A-EFC0-435F-91E6-7E3B38013240}" type="presParOf" srcId="{F7CA5146-7961-4ADB-B0C8-0ACC482F3F79}" destId="{96087A17-357E-41D2-9DEA-4ACE7E73F7F8}" srcOrd="0" destOrd="0" presId="urn:microsoft.com/office/officeart/2018/5/layout/IconCircleLabelList"/>
    <dgm:cxn modelId="{AFD4E7FC-14DE-4263-92E7-BA025AC8B9CC}" type="presParOf" srcId="{F7CA5146-7961-4ADB-B0C8-0ACC482F3F79}" destId="{3CE0FDE0-5209-4EC8-AA9F-1F0DED81CA61}" srcOrd="1" destOrd="0" presId="urn:microsoft.com/office/officeart/2018/5/layout/IconCircleLabelList"/>
    <dgm:cxn modelId="{3A424627-017C-4433-A88D-D13E141A88C7}" type="presParOf" srcId="{F7CA5146-7961-4ADB-B0C8-0ACC482F3F79}" destId="{47A42BD8-7033-4E7F-A27C-4D1ED43884CB}" srcOrd="2" destOrd="0" presId="urn:microsoft.com/office/officeart/2018/5/layout/IconCircleLabelList"/>
    <dgm:cxn modelId="{232B17A0-E6A2-4E32-AD80-45897A5B953A}" type="presParOf" srcId="{F7CA5146-7961-4ADB-B0C8-0ACC482F3F79}" destId="{4F963BC7-847F-4390-9614-F7D051DCDBC1}" srcOrd="3" destOrd="0" presId="urn:microsoft.com/office/officeart/2018/5/layout/IconCircleLabelList"/>
    <dgm:cxn modelId="{CDC4FACF-DC4A-4BD5-AA6C-EB2E77893FD0}" type="presParOf" srcId="{A5205305-9518-49AD-8EFD-A871E7DA4074}" destId="{28AE9B6C-1C30-4A07-9919-41200C87212A}" srcOrd="5" destOrd="0" presId="urn:microsoft.com/office/officeart/2018/5/layout/IconCircleLabelList"/>
    <dgm:cxn modelId="{660D9FF8-F210-4F01-B75D-93E16BA16006}" type="presParOf" srcId="{A5205305-9518-49AD-8EFD-A871E7DA4074}" destId="{A48C03D1-F44F-4307-BD85-5E5A71DBAFE2}" srcOrd="6" destOrd="0" presId="urn:microsoft.com/office/officeart/2018/5/layout/IconCircleLabelList"/>
    <dgm:cxn modelId="{E31AE629-3535-4628-AC86-594486FAFFB0}" type="presParOf" srcId="{A48C03D1-F44F-4307-BD85-5E5A71DBAFE2}" destId="{4E356F2E-5AA7-40FF-B514-DB8AE5DD98FF}" srcOrd="0" destOrd="0" presId="urn:microsoft.com/office/officeart/2018/5/layout/IconCircleLabelList"/>
    <dgm:cxn modelId="{91585571-9D9E-4197-915B-DA629147DD19}" type="presParOf" srcId="{A48C03D1-F44F-4307-BD85-5E5A71DBAFE2}" destId="{485F0C69-9489-48A0-89E8-4D1345FCECBC}" srcOrd="1" destOrd="0" presId="urn:microsoft.com/office/officeart/2018/5/layout/IconCircleLabelList"/>
    <dgm:cxn modelId="{735C14B5-5C28-43D9-AA02-E3E250CA7D1D}" type="presParOf" srcId="{A48C03D1-F44F-4307-BD85-5E5A71DBAFE2}" destId="{FB261253-0431-4CFB-83FA-2318CC76F28E}" srcOrd="2" destOrd="0" presId="urn:microsoft.com/office/officeart/2018/5/layout/IconCircleLabelList"/>
    <dgm:cxn modelId="{976783C4-6D1A-4DAA-9DC4-59FD8205AB2F}" type="presParOf" srcId="{A48C03D1-F44F-4307-BD85-5E5A71DBAFE2}" destId="{EB5A955E-B79C-4214-8690-A52118509EF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17FD71-8392-40F3-90BB-9F1C20C9A062}">
      <dsp:nvSpPr>
        <dsp:cNvPr id="0" name=""/>
        <dsp:cNvSpPr/>
      </dsp:nvSpPr>
      <dsp:spPr>
        <a:xfrm>
          <a:off x="562034" y="1364132"/>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B0E8F-5BDD-40B7-843A-0585794A3CAA}">
      <dsp:nvSpPr>
        <dsp:cNvPr id="0" name=""/>
        <dsp:cNvSpPr/>
      </dsp:nvSpPr>
      <dsp:spPr>
        <a:xfrm>
          <a:off x="816973" y="1547405"/>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8BDAA1-B02B-4FC1-96C5-E1090C6D95DD}">
      <dsp:nvSpPr>
        <dsp:cNvPr id="0" name=""/>
        <dsp:cNvSpPr/>
      </dsp:nvSpPr>
      <dsp:spPr>
        <a:xfrm>
          <a:off x="231973" y="2753405"/>
          <a:ext cx="1800000" cy="83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latin typeface="Calibri" panose="020F0502020204030204" pitchFamily="34" charset="0"/>
              <a:ea typeface="Calibri" panose="020F0502020204030204" pitchFamily="34" charset="0"/>
              <a:cs typeface="Calibri" panose="020F0502020204030204" pitchFamily="34" charset="0"/>
            </a:rPr>
            <a:t>What is chaos</a:t>
          </a:r>
          <a:r>
            <a:rPr lang="en-US" sz="1600" kern="1200" cap="none" dirty="0">
              <a:latin typeface="Calibri" panose="020F0502020204030204" pitchFamily="34" charset="0"/>
              <a:ea typeface="Calibri" panose="020F0502020204030204" pitchFamily="34" charset="0"/>
              <a:cs typeface="Calibri" panose="020F0502020204030204" pitchFamily="34" charset="0"/>
            </a:rPr>
            <a:t>? small changes can lead to vast differences in a system over time. think of the butterfly effect</a:t>
          </a:r>
          <a:r>
            <a:rPr lang="en-US" sz="1600" kern="1200" dirty="0">
              <a:latin typeface="Calibri" panose="020F0502020204030204" pitchFamily="34" charset="0"/>
              <a:ea typeface="Calibri" panose="020F0502020204030204" pitchFamily="34" charset="0"/>
              <a:cs typeface="Calibri" panose="020F0502020204030204" pitchFamily="34" charset="0"/>
            </a:rPr>
            <a:t>.</a:t>
          </a:r>
        </a:p>
      </dsp:txBody>
      <dsp:txXfrm>
        <a:off x="231973" y="2753405"/>
        <a:ext cx="1800000" cy="831326"/>
      </dsp:txXfrm>
    </dsp:sp>
    <dsp:sp modelId="{A56DE134-FDEB-4E58-B9F7-10CD656F9AC0}">
      <dsp:nvSpPr>
        <dsp:cNvPr id="0" name=""/>
        <dsp:cNvSpPr/>
      </dsp:nvSpPr>
      <dsp:spPr>
        <a:xfrm>
          <a:off x="4311700" y="1295080"/>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DAEC5-60D0-4B63-8880-EE34A7733B9B}">
      <dsp:nvSpPr>
        <dsp:cNvPr id="0" name=""/>
        <dsp:cNvSpPr/>
      </dsp:nvSpPr>
      <dsp:spPr>
        <a:xfrm>
          <a:off x="4545700" y="1529080"/>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7C19DC-F6FB-4E36-9684-5DCE057F8607}">
      <dsp:nvSpPr>
        <dsp:cNvPr id="0" name=""/>
        <dsp:cNvSpPr/>
      </dsp:nvSpPr>
      <dsp:spPr>
        <a:xfrm>
          <a:off x="2346973" y="2698431"/>
          <a:ext cx="5027454" cy="904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latin typeface="Calibri" panose="020F0502020204030204" pitchFamily="34" charset="0"/>
              <a:ea typeface="Calibri" panose="020F0502020204030204" pitchFamily="34" charset="0"/>
              <a:cs typeface="Calibri" panose="020F0502020204030204" pitchFamily="34" charset="0"/>
            </a:rPr>
            <a:t>What is a memristive system? </a:t>
          </a:r>
          <a:r>
            <a:rPr lang="en-US" sz="1600" kern="1200" cap="none" dirty="0">
              <a:latin typeface="Calibri" panose="020F0502020204030204" pitchFamily="34" charset="0"/>
              <a:ea typeface="Calibri" panose="020F0502020204030204" pitchFamily="34" charset="0"/>
              <a:cs typeface="Calibri" panose="020F0502020204030204" pitchFamily="34" charset="0"/>
            </a:rPr>
            <a:t>a memristive system is a class of nonlinear dynamical systems whose </a:t>
          </a:r>
          <a:r>
            <a:rPr lang="en-US" sz="1600" kern="1200" cap="none" dirty="0">
              <a:solidFill>
                <a:prstClr val="black">
                  <a:hueOff val="0"/>
                  <a:satOff val="0"/>
                  <a:lumOff val="0"/>
                  <a:alphaOff val="0"/>
                </a:prstClr>
              </a:solidFill>
              <a:latin typeface="Calibri" panose="020F0502020204030204" pitchFamily="34" charset="0"/>
              <a:ea typeface="Calibri" panose="020F0502020204030204" pitchFamily="34" charset="0"/>
              <a:cs typeface="Calibri" panose="020F0502020204030204" pitchFamily="34" charset="0"/>
            </a:rPr>
            <a:t>resistance</a:t>
          </a:r>
          <a:r>
            <a:rPr lang="en-US" sz="1600" kern="1200" cap="none" dirty="0">
              <a:latin typeface="Calibri" panose="020F0502020204030204" pitchFamily="34" charset="0"/>
              <a:ea typeface="Calibri" panose="020F0502020204030204" pitchFamily="34" charset="0"/>
              <a:cs typeface="Calibri" panose="020F0502020204030204" pitchFamily="34" charset="0"/>
            </a:rPr>
            <a:t> depends on the history of the current or voltage applied to them. the concept was first introduced by </a:t>
          </a:r>
          <a:r>
            <a:rPr lang="en-US" sz="1600" kern="1200" cap="none" dirty="0" err="1">
              <a:latin typeface="Calibri" panose="020F0502020204030204" pitchFamily="34" charset="0"/>
              <a:ea typeface="Calibri" panose="020F0502020204030204" pitchFamily="34" charset="0"/>
              <a:cs typeface="Calibri" panose="020F0502020204030204" pitchFamily="34" charset="0"/>
            </a:rPr>
            <a:t>chua</a:t>
          </a:r>
          <a:r>
            <a:rPr lang="en-US" sz="1600" kern="1200" cap="none" dirty="0">
              <a:latin typeface="Calibri" panose="020F0502020204030204" pitchFamily="34" charset="0"/>
              <a:ea typeface="Calibri" panose="020F0502020204030204" pitchFamily="34" charset="0"/>
              <a:cs typeface="Calibri" panose="020F0502020204030204" pitchFamily="34" charset="0"/>
            </a:rPr>
            <a:t> 1971, who introduced the memristor as the fourth fundamental circuit element</a:t>
          </a:r>
          <a:r>
            <a:rPr lang="en-US" sz="1600" kern="1200" dirty="0">
              <a:latin typeface="Calibri" panose="020F0502020204030204" pitchFamily="34" charset="0"/>
              <a:ea typeface="Calibri" panose="020F0502020204030204" pitchFamily="34" charset="0"/>
              <a:cs typeface="Calibri" panose="020F0502020204030204" pitchFamily="34" charset="0"/>
            </a:rPr>
            <a:t>.</a:t>
          </a:r>
        </a:p>
      </dsp:txBody>
      <dsp:txXfrm>
        <a:off x="2346973" y="2698431"/>
        <a:ext cx="5027454" cy="904624"/>
      </dsp:txXfrm>
    </dsp:sp>
    <dsp:sp modelId="{96087A17-357E-41D2-9DEA-4ACE7E73F7F8}">
      <dsp:nvSpPr>
        <dsp:cNvPr id="0" name=""/>
        <dsp:cNvSpPr/>
      </dsp:nvSpPr>
      <dsp:spPr>
        <a:xfrm>
          <a:off x="8040427" y="1313405"/>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E0FDE0-5209-4EC8-AA9F-1F0DED81CA61}">
      <dsp:nvSpPr>
        <dsp:cNvPr id="0" name=""/>
        <dsp:cNvSpPr/>
      </dsp:nvSpPr>
      <dsp:spPr>
        <a:xfrm>
          <a:off x="8274427" y="1547405"/>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963BC7-847F-4390-9614-F7D051DCDBC1}">
      <dsp:nvSpPr>
        <dsp:cNvPr id="0" name=""/>
        <dsp:cNvSpPr/>
      </dsp:nvSpPr>
      <dsp:spPr>
        <a:xfrm>
          <a:off x="7689427" y="2753405"/>
          <a:ext cx="1800000" cy="83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latin typeface="Calibri" panose="020F0502020204030204" pitchFamily="34" charset="0"/>
              <a:ea typeface="Calibri" panose="020F0502020204030204" pitchFamily="34" charset="0"/>
              <a:cs typeface="Calibri" panose="020F0502020204030204" pitchFamily="34" charset="0"/>
            </a:rPr>
            <a:t>What is  reservoir computing? </a:t>
          </a:r>
          <a:r>
            <a:rPr lang="en-US" sz="1600" b="0" kern="1200" cap="none" dirty="0">
              <a:latin typeface="Calibri" panose="020F0502020204030204" pitchFamily="34" charset="0"/>
              <a:ea typeface="Calibri" panose="020F0502020204030204" pitchFamily="34" charset="0"/>
              <a:cs typeface="Calibri" panose="020F0502020204030204" pitchFamily="34" charset="0"/>
            </a:rPr>
            <a:t>an</a:t>
          </a:r>
          <a:r>
            <a:rPr lang="en-US" sz="1600" kern="1200" cap="none" dirty="0">
              <a:latin typeface="Calibri" panose="020F0502020204030204" pitchFamily="34" charset="0"/>
              <a:ea typeface="Calibri" panose="020F0502020204030204" pitchFamily="34" charset="0"/>
              <a:cs typeface="Calibri" panose="020F0502020204030204" pitchFamily="34" charset="0"/>
            </a:rPr>
            <a:t> extension of artificial neural networks where only the output weights are changed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7689427" y="2753405"/>
        <a:ext cx="1800000" cy="831326"/>
      </dsp:txXfrm>
    </dsp:sp>
    <dsp:sp modelId="{4E356F2E-5AA7-40FF-B514-DB8AE5DD98FF}">
      <dsp:nvSpPr>
        <dsp:cNvPr id="0" name=""/>
        <dsp:cNvSpPr/>
      </dsp:nvSpPr>
      <dsp:spPr>
        <a:xfrm>
          <a:off x="10155427" y="1313405"/>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5F0C69-9489-48A0-89E8-4D1345FCECBC}">
      <dsp:nvSpPr>
        <dsp:cNvPr id="0" name=""/>
        <dsp:cNvSpPr/>
      </dsp:nvSpPr>
      <dsp:spPr>
        <a:xfrm>
          <a:off x="10389427" y="1547405"/>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5A955E-B79C-4214-8690-A52118509EF7}">
      <dsp:nvSpPr>
        <dsp:cNvPr id="0" name=""/>
        <dsp:cNvSpPr/>
      </dsp:nvSpPr>
      <dsp:spPr>
        <a:xfrm>
          <a:off x="9804427" y="2753405"/>
          <a:ext cx="1800000" cy="831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cap="none" dirty="0">
              <a:latin typeface="Calibri" panose="020F0502020204030204" pitchFamily="34" charset="0"/>
              <a:ea typeface="Calibri" panose="020F0502020204030204" pitchFamily="34" charset="0"/>
              <a:cs typeface="Calibri" panose="020F0502020204030204" pitchFamily="34" charset="0"/>
            </a:rPr>
            <a:t>What is the aim of this project</a:t>
          </a:r>
          <a:r>
            <a:rPr lang="en-US" sz="1400" kern="1200" dirty="0">
              <a:latin typeface="Calibri" panose="020F0502020204030204" pitchFamily="34" charset="0"/>
              <a:ea typeface="Calibri" panose="020F0502020204030204" pitchFamily="34" charset="0"/>
              <a:cs typeface="Calibri" panose="020F0502020204030204" pitchFamily="34" charset="0"/>
            </a:rPr>
            <a:t>? </a:t>
          </a:r>
          <a:r>
            <a:rPr lang="en-US" sz="1400" kern="1200" cap="none" dirty="0">
              <a:latin typeface="Calibri" panose="020F0502020204030204" pitchFamily="34" charset="0"/>
              <a:ea typeface="Calibri" panose="020F0502020204030204" pitchFamily="34" charset="0"/>
              <a:cs typeface="Calibri" panose="020F0502020204030204" pitchFamily="34" charset="0"/>
            </a:rPr>
            <a:t>to use machine learning (reservoir computing) to model and predict the system’s behavior over time</a:t>
          </a:r>
          <a:r>
            <a:rPr lang="en-US" sz="1400" kern="1200" dirty="0">
              <a:latin typeface="Calibri" panose="020F0502020204030204" pitchFamily="34" charset="0"/>
              <a:ea typeface="Calibri" panose="020F0502020204030204" pitchFamily="34" charset="0"/>
              <a:cs typeface="Calibri" panose="020F0502020204030204" pitchFamily="34" charset="0"/>
            </a:rPr>
            <a:t>.</a:t>
          </a:r>
        </a:p>
      </dsp:txBody>
      <dsp:txXfrm>
        <a:off x="9804427" y="2753405"/>
        <a:ext cx="1800000" cy="831326"/>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11/3/2025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l="2107" r="54661" b="9091"/>
          <a:stretch>
            <a:fillRect/>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CC1CA635-2D9C-4E3E-820F-5FE35AC14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lumMod val="75000"/>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57200" y="4960137"/>
            <a:ext cx="7772400" cy="1463040"/>
          </a:xfrm>
        </p:spPr>
        <p:txBody>
          <a:bodyPr>
            <a:normAutofit/>
          </a:bodyPr>
          <a:lstStyle/>
          <a:p>
            <a:r>
              <a:rPr lang="en-US" sz="4300">
                <a:solidFill>
                  <a:srgbClr val="FFFFFF"/>
                </a:solidFill>
              </a:rPr>
              <a:t>USING RESERVOIR COMPUTING TO PREDICT A MEMRISTIVE CHAOTIC SYSTEM</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8610600" y="4960137"/>
            <a:ext cx="3200400" cy="1463040"/>
          </a:xfrm>
        </p:spPr>
        <p:txBody>
          <a:bodyPr>
            <a:normAutofit/>
          </a:bodyPr>
          <a:lstStyle/>
          <a:p>
            <a:r>
              <a:rPr lang="en-US">
                <a:solidFill>
                  <a:srgbClr val="FFFFFF"/>
                </a:solidFill>
              </a:rPr>
              <a:t>Presented by ADETAYO MATHEW TEMITOPE</a:t>
            </a:r>
          </a:p>
          <a:p>
            <a:r>
              <a:rPr lang="en-US">
                <a:solidFill>
                  <a:srgbClr val="FFFFFF"/>
                </a:solidFill>
              </a:rPr>
              <a:t>Supervised by DR KS OJO</a:t>
            </a:r>
            <a:endParaRPr lang="en-US" dirty="0">
              <a:solidFill>
                <a:srgbClr val="FFFFFF"/>
              </a:solidFill>
            </a:endParaRPr>
          </a:p>
        </p:txBody>
      </p:sp>
      <p:cxnSp>
        <p:nvCxnSpPr>
          <p:cNvPr id="35" name="Straight Connector 34">
            <a:extLst>
              <a:ext uri="{FF2B5EF4-FFF2-40B4-BE49-F238E27FC236}">
                <a16:creationId xmlns:a16="http://schemas.microsoft.com/office/drawing/2014/main" id="{E0E62FBC-456F-48AE-91ED-3956405D76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41248" y="751840"/>
            <a:ext cx="2602992" cy="990601"/>
          </a:xfrm>
          <a:noFill/>
        </p:spPr>
        <p:txBody>
          <a:bodyPr>
            <a:normAutofit/>
          </a:bodyPr>
          <a:lstStyle/>
          <a:p>
            <a:r>
              <a:rPr lang="en-US" dirty="0">
                <a:solidFill>
                  <a:schemeClr val="tx1"/>
                </a:solidFill>
              </a:rPr>
              <a:t>OVERVIEW</a:t>
            </a:r>
          </a:p>
        </p:txBody>
      </p:sp>
      <p:sp>
        <p:nvSpPr>
          <p:cNvPr id="4" name="Content Placeholder 3">
            <a:extLst>
              <a:ext uri="{FF2B5EF4-FFF2-40B4-BE49-F238E27FC236}">
                <a16:creationId xmlns:a16="http://schemas.microsoft.com/office/drawing/2014/main" id="{5B2E0E9E-64FE-B15D-C480-04ECC6406C4D}"/>
              </a:ext>
            </a:extLst>
          </p:cNvPr>
          <p:cNvSpPr>
            <a:spLocks noGrp="1"/>
          </p:cNvSpPr>
          <p:nvPr>
            <p:ph idx="1"/>
          </p:nvPr>
        </p:nvSpPr>
        <p:spPr>
          <a:xfrm>
            <a:off x="426720" y="2438653"/>
            <a:ext cx="6817360" cy="1980694"/>
          </a:xfrm>
          <a:noFill/>
        </p:spPr>
        <p:txBody>
          <a:bodyPr/>
          <a:lstStyle/>
          <a:p>
            <a:pPr>
              <a:buFont typeface="Wingdings" panose="05000000000000000000" pitchFamily="2" charset="2"/>
              <a:buChar char="§"/>
            </a:pPr>
            <a:r>
              <a:rPr lang="en-US" dirty="0"/>
              <a:t>Many systems exhibit </a:t>
            </a:r>
            <a:r>
              <a:rPr lang="en-US" b="1" dirty="0"/>
              <a:t>chaos</a:t>
            </a:r>
            <a:r>
              <a:rPr lang="en-US" dirty="0"/>
              <a:t> however they’ve remained difficult to model up till now.</a:t>
            </a:r>
          </a:p>
          <a:p>
            <a:pPr>
              <a:buFont typeface="Wingdings" panose="05000000000000000000" pitchFamily="2" charset="2"/>
              <a:buChar char="§"/>
            </a:pPr>
            <a:r>
              <a:rPr lang="en-US" dirty="0"/>
              <a:t>One thing reservoir </a:t>
            </a:r>
            <a:r>
              <a:rPr lang="en-US" b="1" dirty="0"/>
              <a:t>reservoir computing </a:t>
            </a:r>
            <a:r>
              <a:rPr lang="en-US" dirty="0"/>
              <a:t>can do is give us new ability to understand these </a:t>
            </a:r>
            <a:r>
              <a:rPr lang="en-US" dirty="0" err="1"/>
              <a:t>sytems</a:t>
            </a:r>
            <a:r>
              <a:rPr lang="en-US" dirty="0"/>
              <a:t>.</a:t>
            </a:r>
          </a:p>
        </p:txBody>
      </p:sp>
      <p:sp>
        <p:nvSpPr>
          <p:cNvPr id="6" name="Rectangle 5">
            <a:extLst>
              <a:ext uri="{FF2B5EF4-FFF2-40B4-BE49-F238E27FC236}">
                <a16:creationId xmlns:a16="http://schemas.microsoft.com/office/drawing/2014/main" id="{EDCBE90E-442D-3A11-4335-75C9900D1530}"/>
              </a:ext>
            </a:extLst>
          </p:cNvPr>
          <p:cNvSpPr/>
          <p:nvPr/>
        </p:nvSpPr>
        <p:spPr>
          <a:xfrm>
            <a:off x="0" y="5974081"/>
            <a:ext cx="12192000" cy="8839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DCE2EA-3E68-CD5A-911D-BFFEEE5FE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A25A2-738C-577A-3413-B6A3D7E9F9F2}"/>
              </a:ext>
            </a:extLst>
          </p:cNvPr>
          <p:cNvSpPr>
            <a:spLocks noGrp="1"/>
          </p:cNvSpPr>
          <p:nvPr>
            <p:ph type="title"/>
          </p:nvPr>
        </p:nvSpPr>
        <p:spPr>
          <a:xfrm>
            <a:off x="851408" y="829056"/>
            <a:ext cx="3415792" cy="913385"/>
          </a:xfrm>
          <a:noFill/>
        </p:spPr>
        <p:txBody>
          <a:bodyPr>
            <a:normAutofit/>
          </a:bodyPr>
          <a:lstStyle/>
          <a:p>
            <a:r>
              <a:rPr lang="en-US" dirty="0">
                <a:solidFill>
                  <a:schemeClr val="tx1"/>
                </a:solidFill>
              </a:rPr>
              <a:t>Central Ideas</a:t>
            </a:r>
          </a:p>
        </p:txBody>
      </p:sp>
      <p:graphicFrame>
        <p:nvGraphicFramePr>
          <p:cNvPr id="8" name="Content Placeholder 3">
            <a:extLst>
              <a:ext uri="{FF2B5EF4-FFF2-40B4-BE49-F238E27FC236}">
                <a16:creationId xmlns:a16="http://schemas.microsoft.com/office/drawing/2014/main" id="{E25BBBC1-AD84-D159-B74F-8CF102046D08}"/>
              </a:ext>
            </a:extLst>
          </p:cNvPr>
          <p:cNvGraphicFramePr>
            <a:graphicFrameLocks noGrp="1"/>
          </p:cNvGraphicFramePr>
          <p:nvPr>
            <p:ph idx="1"/>
            <p:extLst>
              <p:ext uri="{D42A27DB-BD31-4B8C-83A1-F6EECF244321}">
                <p14:modId xmlns:p14="http://schemas.microsoft.com/office/powerpoint/2010/main" val="1235659608"/>
              </p:ext>
            </p:extLst>
          </p:nvPr>
        </p:nvGraphicFramePr>
        <p:xfrm>
          <a:off x="76200" y="829056"/>
          <a:ext cx="11836400" cy="4898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5480BA23-78AB-E1D2-A393-6D623803F968}"/>
              </a:ext>
            </a:extLst>
          </p:cNvPr>
          <p:cNvSpPr/>
          <p:nvPr/>
        </p:nvSpPr>
        <p:spPr>
          <a:xfrm>
            <a:off x="0" y="6045201"/>
            <a:ext cx="12192000" cy="812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902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A0376-8D7D-2E96-5BBE-A119622F373B}"/>
              </a:ext>
            </a:extLst>
          </p:cNvPr>
          <p:cNvSpPr>
            <a:spLocks noGrp="1"/>
          </p:cNvSpPr>
          <p:nvPr>
            <p:ph type="title"/>
          </p:nvPr>
        </p:nvSpPr>
        <p:spPr/>
        <p:txBody>
          <a:bodyPr/>
          <a:lstStyle/>
          <a:p>
            <a:r>
              <a:rPr lang="en-US" dirty="0"/>
              <a:t>Some chaotic attractors examples</a:t>
            </a:r>
          </a:p>
        </p:txBody>
      </p:sp>
      <p:pic>
        <p:nvPicPr>
          <p:cNvPr id="5" name="Content Placeholder 4">
            <a:extLst>
              <a:ext uri="{FF2B5EF4-FFF2-40B4-BE49-F238E27FC236}">
                <a16:creationId xmlns:a16="http://schemas.microsoft.com/office/drawing/2014/main" id="{D13309BC-8C68-2692-CABA-54A8F3CC1B0C}"/>
              </a:ext>
            </a:extLst>
          </p:cNvPr>
          <p:cNvPicPr>
            <a:picLocks noGrp="1" noChangeAspect="1"/>
          </p:cNvPicPr>
          <p:nvPr>
            <p:ph idx="1"/>
          </p:nvPr>
        </p:nvPicPr>
        <p:blipFill>
          <a:blip r:embed="rId2"/>
          <a:srcRect/>
          <a:stretch/>
        </p:blipFill>
        <p:spPr>
          <a:xfrm>
            <a:off x="217238" y="2718817"/>
            <a:ext cx="3774395" cy="3011423"/>
          </a:xfrm>
        </p:spPr>
      </p:pic>
      <p:sp>
        <p:nvSpPr>
          <p:cNvPr id="7" name="Rectangle 6">
            <a:extLst>
              <a:ext uri="{FF2B5EF4-FFF2-40B4-BE49-F238E27FC236}">
                <a16:creationId xmlns:a16="http://schemas.microsoft.com/office/drawing/2014/main" id="{FB50DC45-5A93-F8B3-6BFC-E706571417B3}"/>
              </a:ext>
            </a:extLst>
          </p:cNvPr>
          <p:cNvSpPr/>
          <p:nvPr/>
        </p:nvSpPr>
        <p:spPr>
          <a:xfrm>
            <a:off x="0" y="6583680"/>
            <a:ext cx="12192000" cy="27432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4">
            <a:extLst>
              <a:ext uri="{FF2B5EF4-FFF2-40B4-BE49-F238E27FC236}">
                <a16:creationId xmlns:a16="http://schemas.microsoft.com/office/drawing/2014/main" id="{BFE2CDAE-33A0-40AF-58FA-9E840FB42F27}"/>
              </a:ext>
            </a:extLst>
          </p:cNvPr>
          <p:cNvPicPr>
            <a:picLocks noChangeAspect="1"/>
          </p:cNvPicPr>
          <p:nvPr/>
        </p:nvPicPr>
        <p:blipFill>
          <a:blip r:embed="rId3"/>
          <a:srcRect/>
          <a:stretch/>
        </p:blipFill>
        <p:spPr>
          <a:xfrm>
            <a:off x="4081890" y="1899417"/>
            <a:ext cx="4028220" cy="4315950"/>
          </a:xfrm>
          <a:prstGeom prst="rect">
            <a:avLst/>
          </a:prstGeom>
        </p:spPr>
      </p:pic>
      <p:pic>
        <p:nvPicPr>
          <p:cNvPr id="11" name="Content Placeholder 4">
            <a:extLst>
              <a:ext uri="{FF2B5EF4-FFF2-40B4-BE49-F238E27FC236}">
                <a16:creationId xmlns:a16="http://schemas.microsoft.com/office/drawing/2014/main" id="{7B6FC67A-939A-5A4E-D50F-2C935DD6BDDE}"/>
              </a:ext>
            </a:extLst>
          </p:cNvPr>
          <p:cNvPicPr>
            <a:picLocks noChangeAspect="1"/>
          </p:cNvPicPr>
          <p:nvPr/>
        </p:nvPicPr>
        <p:blipFill>
          <a:blip r:embed="rId4"/>
          <a:srcRect/>
          <a:stretch/>
        </p:blipFill>
        <p:spPr>
          <a:xfrm>
            <a:off x="7561579" y="2020203"/>
            <a:ext cx="4250623" cy="4074378"/>
          </a:xfrm>
          <a:prstGeom prst="rect">
            <a:avLst/>
          </a:prstGeom>
        </p:spPr>
      </p:pic>
    </p:spTree>
    <p:extLst>
      <p:ext uri="{BB962C8B-B14F-4D97-AF65-F5344CB8AC3E}">
        <p14:creationId xmlns:p14="http://schemas.microsoft.com/office/powerpoint/2010/main" val="258657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8FA55-12FC-6E83-BF65-B9F2C41F6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8E860-37EC-6F0A-915A-93FFD5199317}"/>
              </a:ext>
            </a:extLst>
          </p:cNvPr>
          <p:cNvSpPr>
            <a:spLocks noGrp="1"/>
          </p:cNvSpPr>
          <p:nvPr>
            <p:ph type="title"/>
          </p:nvPr>
        </p:nvSpPr>
        <p:spPr>
          <a:xfrm>
            <a:off x="851408" y="829056"/>
            <a:ext cx="4594352" cy="913385"/>
          </a:xfrm>
          <a:noFill/>
        </p:spPr>
        <p:txBody>
          <a:bodyPr>
            <a:normAutofit fontScale="90000"/>
          </a:bodyPr>
          <a:lstStyle/>
          <a:p>
            <a:r>
              <a:rPr lang="en-US" dirty="0">
                <a:solidFill>
                  <a:schemeClr val="tx1"/>
                </a:solidFill>
              </a:rPr>
              <a:t>The memristive system</a:t>
            </a:r>
          </a:p>
        </p:txBody>
      </p:sp>
      <p:sp>
        <p:nvSpPr>
          <p:cNvPr id="6" name="Rectangle 5">
            <a:extLst>
              <a:ext uri="{FF2B5EF4-FFF2-40B4-BE49-F238E27FC236}">
                <a16:creationId xmlns:a16="http://schemas.microsoft.com/office/drawing/2014/main" id="{3F7BB8D7-5F87-92A9-1204-AB3F794B2559}"/>
              </a:ext>
            </a:extLst>
          </p:cNvPr>
          <p:cNvSpPr/>
          <p:nvPr/>
        </p:nvSpPr>
        <p:spPr>
          <a:xfrm>
            <a:off x="0" y="6045201"/>
            <a:ext cx="12192000" cy="812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52F82B4-F0F2-781E-2EC0-44BB290CFE0A}"/>
                  </a:ext>
                </a:extLst>
              </p:cNvPr>
              <p:cNvSpPr>
                <a:spLocks noGrp="1"/>
              </p:cNvSpPr>
              <p:nvPr>
                <p:ph idx="1"/>
              </p:nvPr>
            </p:nvSpPr>
            <p:spPr>
              <a:xfrm>
                <a:off x="1024129" y="2286000"/>
                <a:ext cx="5071872" cy="2946400"/>
              </a:xfrm>
            </p:spPr>
            <p:txBody>
              <a:bodyPr>
                <a:normAutofit fontScale="92500"/>
              </a:bodyPr>
              <a:lstStyle/>
              <a:p>
                <a:r>
                  <a:rPr lang="en-US" dirty="0"/>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𝑦𝑡𝑎𝑛</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oMath>
                </a14:m>
                <a:r>
                  <a:rPr lang="en-US" dirty="0"/>
                  <a:t>                                         </a:t>
                </a:r>
              </a:p>
              <a:p>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𝑡𝑎</m:t>
                    </m:r>
                    <m:func>
                      <m:funcPr>
                        <m:ctrlPr>
                          <a:rPr lang="en-US" i="1">
                            <a:latin typeface="Cambria Math" panose="02040503050406030204" pitchFamily="18" charset="0"/>
                          </a:rPr>
                        </m:ctrlPr>
                      </m:funcPr>
                      <m:fName>
                        <m:r>
                          <a:rPr lang="en-US" i="1">
                            <a:latin typeface="Cambria Math" panose="02040503050406030204" pitchFamily="18" charset="0"/>
                          </a:rPr>
                          <m:t>𝑛</m:t>
                        </m:r>
                      </m:fName>
                      <m:e>
                        <m:d>
                          <m:dPr>
                            <m:ctrlPr>
                              <a:rPr lang="en-US" i="1">
                                <a:latin typeface="Cambria Math" panose="02040503050406030204" pitchFamily="18" charset="0"/>
                              </a:rPr>
                            </m:ctrlPr>
                          </m:dPr>
                          <m:e>
                            <m:r>
                              <a:rPr lang="en-US" i="1">
                                <a:latin typeface="Cambria Math" panose="02040503050406030204" pitchFamily="18" charset="0"/>
                              </a:rPr>
                              <m:t>𝑧</m:t>
                            </m:r>
                          </m:e>
                        </m:d>
                      </m:e>
                    </m:func>
                    <m:r>
                      <a:rPr lang="en-US" i="1">
                        <a:latin typeface="Cambria Math" panose="02040503050406030204" pitchFamily="18" charset="0"/>
                      </a:rPr>
                      <m:t>                                              </m:t>
                    </m:r>
                  </m:oMath>
                </a14:m>
                <a:r>
                  <a:rPr lang="en-US" dirty="0"/>
                  <a:t>3.1</a:t>
                </a:r>
              </a:p>
              <a:p>
                <a14:m>
                  <m:oMath xmlns:m="http://schemas.openxmlformats.org/officeDocument/2006/math">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𝑥𝑊</m:t>
                    </m:r>
                    <m:d>
                      <m:dPr>
                        <m:ctrlPr>
                          <a:rPr lang="en-US" i="1">
                            <a:latin typeface="Cambria Math" panose="02040503050406030204" pitchFamily="18" charset="0"/>
                          </a:rPr>
                        </m:ctrlPr>
                      </m:dPr>
                      <m:e>
                        <m:r>
                          <a:rPr lang="en-US" i="1">
                            <a:latin typeface="Cambria Math" panose="02040503050406030204" pitchFamily="18" charset="0"/>
                          </a:rPr>
                          <m:t>𝑢</m:t>
                        </m:r>
                      </m:e>
                    </m:d>
                    <m:r>
                      <a:rPr lang="en-US" i="1">
                        <a:latin typeface="Cambria Math" panose="02040503050406030204" pitchFamily="18" charset="0"/>
                      </a:rPr>
                      <m:t>+</m:t>
                    </m:r>
                    <m:r>
                      <a:rPr lang="en-US" i="1">
                        <a:latin typeface="Cambria Math" panose="02040503050406030204" pitchFamily="18" charset="0"/>
                      </a:rPr>
                      <m:t>𝑎𝑟𝑐𝑡𝑎</m:t>
                    </m:r>
                    <m:func>
                      <m:funcPr>
                        <m:ctrlPr>
                          <a:rPr lang="en-US" i="1">
                            <a:latin typeface="Cambria Math" panose="02040503050406030204" pitchFamily="18" charset="0"/>
                          </a:rPr>
                        </m:ctrlPr>
                      </m:funcPr>
                      <m:fName>
                        <m:r>
                          <a:rPr lang="en-US" i="1">
                            <a:latin typeface="Cambria Math" panose="02040503050406030204" pitchFamily="18" charset="0"/>
                          </a:rPr>
                          <m:t>𝑛</m:t>
                        </m:r>
                      </m:fName>
                      <m:e>
                        <m:d>
                          <m:dPr>
                            <m:ctrlPr>
                              <a:rPr lang="en-US" i="1">
                                <a:latin typeface="Cambria Math" panose="02040503050406030204" pitchFamily="18" charset="0"/>
                              </a:rPr>
                            </m:ctrlPr>
                          </m:dPr>
                          <m:e>
                            <m:r>
                              <a:rPr lang="en-US" i="1">
                                <a:latin typeface="Cambria Math" panose="02040503050406030204" pitchFamily="18" charset="0"/>
                              </a:rPr>
                              <m:t>𝑧</m:t>
                            </m:r>
                          </m:e>
                        </m:d>
                      </m:e>
                    </m:func>
                    <m:r>
                      <a:rPr lang="en-US" i="1">
                        <a:latin typeface="Cambria Math" panose="02040503050406030204" pitchFamily="18" charset="0"/>
                      </a:rPr>
                      <m:t>,                  </m:t>
                    </m:r>
                  </m:oMath>
                </a14:m>
                <a:endParaRPr lang="en-US" dirty="0"/>
              </a:p>
              <a:p>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 </m:t>
                    </m:r>
                  </m:oMath>
                </a14:m>
                <a:endParaRPr lang="en-US" dirty="0"/>
              </a:p>
            </p:txBody>
          </p:sp>
        </mc:Choice>
        <mc:Fallback xmlns="">
          <p:sp>
            <p:nvSpPr>
              <p:cNvPr id="4" name="Content Placeholder 3">
                <a:extLst>
                  <a:ext uri="{FF2B5EF4-FFF2-40B4-BE49-F238E27FC236}">
                    <a16:creationId xmlns:a16="http://schemas.microsoft.com/office/drawing/2014/main" id="{B52F82B4-F0F2-781E-2EC0-44BB290CFE0A}"/>
                  </a:ext>
                </a:extLst>
              </p:cNvPr>
              <p:cNvSpPr>
                <a:spLocks noGrp="1" noRot="1" noChangeAspect="1" noMove="1" noResize="1" noEditPoints="1" noAdjustHandles="1" noChangeArrowheads="1" noChangeShapeType="1" noTextEdit="1"/>
              </p:cNvSpPr>
              <p:nvPr>
                <p:ph idx="1"/>
              </p:nvPr>
            </p:nvSpPr>
            <p:spPr>
              <a:xfrm>
                <a:off x="1024129" y="2286000"/>
                <a:ext cx="5071872" cy="2946400"/>
              </a:xfrm>
              <a:blipFill>
                <a:blip r:embed="rId2"/>
                <a:stretch>
                  <a:fillRect l="-216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3B72761-698E-A748-8C1D-DCB0D5BD603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5654" y="589281"/>
            <a:ext cx="6172212" cy="5232400"/>
          </a:xfrm>
          <a:prstGeom prst="rect">
            <a:avLst/>
          </a:prstGeom>
        </p:spPr>
      </p:pic>
    </p:spTree>
    <p:extLst>
      <p:ext uri="{BB962C8B-B14F-4D97-AF65-F5344CB8AC3E}">
        <p14:creationId xmlns:p14="http://schemas.microsoft.com/office/powerpoint/2010/main" val="2902533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6C99D1-E62F-3392-0B9D-94627918F0E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B26165A-3B85-0734-A9D4-5DA08AB61B09}"/>
              </a:ext>
            </a:extLst>
          </p:cNvPr>
          <p:cNvSpPr/>
          <p:nvPr/>
        </p:nvSpPr>
        <p:spPr>
          <a:xfrm>
            <a:off x="0" y="5974081"/>
            <a:ext cx="12192000" cy="8839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690C6378-F4D6-BC30-226D-4E8436FAB10C}"/>
              </a:ext>
            </a:extLst>
          </p:cNvPr>
          <p:cNvPicPr>
            <a:picLocks noGrp="1" noChangeAspect="1"/>
          </p:cNvPicPr>
          <p:nvPr>
            <p:ph idx="1"/>
          </p:nvPr>
        </p:nvPicPr>
        <p:blipFill>
          <a:blip r:embed="rId2"/>
          <a:srcRect/>
          <a:stretch/>
        </p:blipFill>
        <p:spPr>
          <a:xfrm>
            <a:off x="914400" y="195072"/>
            <a:ext cx="10671548" cy="5433568"/>
          </a:xfrm>
        </p:spPr>
      </p:pic>
    </p:spTree>
    <p:extLst>
      <p:ext uri="{BB962C8B-B14F-4D97-AF65-F5344CB8AC3E}">
        <p14:creationId xmlns:p14="http://schemas.microsoft.com/office/powerpoint/2010/main" val="3275303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8934B8B-5D65-8FB2-AC64-9238C07F4AAA}"/>
              </a:ext>
            </a:extLst>
          </p:cNvPr>
          <p:cNvSpPr>
            <a:spLocks noGrp="1"/>
          </p:cNvSpPr>
          <p:nvPr>
            <p:ph type="title"/>
          </p:nvPr>
        </p:nvSpPr>
        <p:spPr>
          <a:xfrm>
            <a:off x="6187440" y="4960137"/>
            <a:ext cx="2042159" cy="1463040"/>
          </a:xfrm>
        </p:spPr>
        <p:txBody>
          <a:bodyPr vert="horz" lIns="91440" tIns="45720" rIns="91440" bIns="45720" rtlCol="0" anchor="ctr">
            <a:normAutofit/>
          </a:bodyPr>
          <a:lstStyle/>
          <a:p>
            <a:pPr algn="r"/>
            <a:r>
              <a:rPr lang="en-US" kern="1200" cap="all" spc="200" baseline="0" dirty="0">
                <a:solidFill>
                  <a:schemeClr val="tx1">
                    <a:lumMod val="95000"/>
                    <a:lumOff val="5000"/>
                  </a:schemeClr>
                </a:solidFill>
                <a:latin typeface="+mj-lt"/>
                <a:ea typeface="+mj-ea"/>
                <a:cs typeface="+mj-cs"/>
              </a:rPr>
              <a:t>METHOD</a:t>
            </a:r>
          </a:p>
        </p:txBody>
      </p:sp>
      <p:pic>
        <p:nvPicPr>
          <p:cNvPr id="5" name="Picture 4">
            <a:extLst>
              <a:ext uri="{FF2B5EF4-FFF2-40B4-BE49-F238E27FC236}">
                <a16:creationId xmlns:a16="http://schemas.microsoft.com/office/drawing/2014/main" id="{BFDE7BEB-4CAA-2861-62A5-1E43FC7CA6FB}"/>
              </a:ext>
            </a:extLst>
          </p:cNvPr>
          <p:cNvPicPr>
            <a:picLocks noChangeAspect="1"/>
          </p:cNvPicPr>
          <p:nvPr/>
        </p:nvPicPr>
        <p:blipFill>
          <a:blip r:embed="rId2"/>
          <a:srcRect t="15254"/>
          <a:stretch>
            <a:fillRect/>
          </a:stretch>
        </p:blipFill>
        <p:spPr>
          <a:xfrm>
            <a:off x="20" y="9"/>
            <a:ext cx="12191980" cy="4571991"/>
          </a:xfrm>
          <a:prstGeom prst="rect">
            <a:avLst/>
          </a:prstGeom>
        </p:spPr>
      </p:pic>
      <p:sp>
        <p:nvSpPr>
          <p:cNvPr id="6" name="TextBox 5">
            <a:extLst>
              <a:ext uri="{FF2B5EF4-FFF2-40B4-BE49-F238E27FC236}">
                <a16:creationId xmlns:a16="http://schemas.microsoft.com/office/drawing/2014/main" id="{1C0C13A5-5D1C-57E5-1E09-86658E3DD4EB}"/>
              </a:ext>
            </a:extLst>
          </p:cNvPr>
          <p:cNvSpPr txBox="1"/>
          <p:nvPr/>
        </p:nvSpPr>
        <p:spPr>
          <a:xfrm>
            <a:off x="121920" y="4705643"/>
            <a:ext cx="6207759" cy="2031325"/>
          </a:xfrm>
          <a:prstGeom prst="rect">
            <a:avLst/>
          </a:prstGeom>
          <a:noFill/>
        </p:spPr>
        <p:txBody>
          <a:bodyPr wrap="square" rtlCol="0">
            <a:spAutoFit/>
          </a:bodyPr>
          <a:lstStyle/>
          <a:p>
            <a:r>
              <a:rPr lang="en-US" dirty="0"/>
              <a:t>Memristive chaotic systems, such as the one considered in this paper, are described by systems of coupled nonlinear differential equations. In most cases, these equations will be difficult and tedious and practically impossible to solve analytically due to their nonlinearity and complexity. Therefore, numerical methods are employed to approximate their trajectories and explore their dynamical behaviors</a:t>
            </a:r>
          </a:p>
        </p:txBody>
      </p:sp>
    </p:spTree>
    <p:extLst>
      <p:ext uri="{BB962C8B-B14F-4D97-AF65-F5344CB8AC3E}">
        <p14:creationId xmlns:p14="http://schemas.microsoft.com/office/powerpoint/2010/main" val="61435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3D241D-DA50-5FD6-FE5B-814A76CE3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28FDB-0CCB-16A9-DE32-A6073B6051FF}"/>
              </a:ext>
            </a:extLst>
          </p:cNvPr>
          <p:cNvSpPr>
            <a:spLocks noGrp="1"/>
          </p:cNvSpPr>
          <p:nvPr>
            <p:ph type="title"/>
          </p:nvPr>
        </p:nvSpPr>
        <p:spPr>
          <a:xfrm>
            <a:off x="924560" y="762000"/>
            <a:ext cx="4124960" cy="711200"/>
          </a:xfrm>
          <a:noFill/>
        </p:spPr>
        <p:txBody>
          <a:bodyPr>
            <a:normAutofit/>
          </a:bodyPr>
          <a:lstStyle/>
          <a:p>
            <a:r>
              <a:rPr lang="en-US" sz="2800" dirty="0">
                <a:solidFill>
                  <a:schemeClr val="tx1"/>
                </a:solidFill>
              </a:rPr>
              <a:t>Results – Observation Tasks</a:t>
            </a:r>
          </a:p>
        </p:txBody>
      </p:sp>
      <p:sp>
        <p:nvSpPr>
          <p:cNvPr id="6" name="Rectangle 5">
            <a:extLst>
              <a:ext uri="{FF2B5EF4-FFF2-40B4-BE49-F238E27FC236}">
                <a16:creationId xmlns:a16="http://schemas.microsoft.com/office/drawing/2014/main" id="{84CBC7FB-DF38-7A90-8452-77258C035820}"/>
              </a:ext>
            </a:extLst>
          </p:cNvPr>
          <p:cNvSpPr/>
          <p:nvPr/>
        </p:nvSpPr>
        <p:spPr>
          <a:xfrm>
            <a:off x="0" y="6776720"/>
            <a:ext cx="12192000" cy="81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3">
            <a:extLst>
              <a:ext uri="{FF2B5EF4-FFF2-40B4-BE49-F238E27FC236}">
                <a16:creationId xmlns:a16="http://schemas.microsoft.com/office/drawing/2014/main" id="{E22468A9-FB21-1F7E-9636-E62EFC5B51A6}"/>
              </a:ext>
            </a:extLst>
          </p:cNvPr>
          <p:cNvPicPr>
            <a:picLocks noGrp="1" noChangeAspect="1"/>
          </p:cNvPicPr>
          <p:nvPr>
            <p:ph idx="1"/>
          </p:nvPr>
        </p:nvPicPr>
        <p:blipFill>
          <a:blip r:embed="rId2"/>
          <a:srcRect/>
          <a:stretch/>
        </p:blipFill>
        <p:spPr>
          <a:xfrm>
            <a:off x="542890" y="1663222"/>
            <a:ext cx="10460494" cy="5022058"/>
          </a:xfrm>
        </p:spPr>
      </p:pic>
    </p:spTree>
    <p:extLst>
      <p:ext uri="{BB962C8B-B14F-4D97-AF65-F5344CB8AC3E}">
        <p14:creationId xmlns:p14="http://schemas.microsoft.com/office/powerpoint/2010/main" val="4249552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BBFBD-7B1F-F7F4-A3AC-FAF7FB03E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B371E-7EF2-951D-F5B6-96A37C236F31}"/>
              </a:ext>
            </a:extLst>
          </p:cNvPr>
          <p:cNvSpPr>
            <a:spLocks noGrp="1"/>
          </p:cNvSpPr>
          <p:nvPr>
            <p:ph type="title"/>
          </p:nvPr>
        </p:nvSpPr>
        <p:spPr>
          <a:xfrm>
            <a:off x="0" y="1788754"/>
            <a:ext cx="2003562" cy="2905760"/>
          </a:xfrm>
          <a:noFill/>
        </p:spPr>
        <p:txBody>
          <a:bodyPr>
            <a:normAutofit/>
          </a:bodyPr>
          <a:lstStyle/>
          <a:p>
            <a:r>
              <a:rPr lang="en-US" sz="3200" dirty="0">
                <a:solidFill>
                  <a:schemeClr val="tx1"/>
                </a:solidFill>
              </a:rPr>
              <a:t>Results – Predictions</a:t>
            </a:r>
          </a:p>
        </p:txBody>
      </p:sp>
      <p:sp>
        <p:nvSpPr>
          <p:cNvPr id="6" name="Rectangle 5">
            <a:extLst>
              <a:ext uri="{FF2B5EF4-FFF2-40B4-BE49-F238E27FC236}">
                <a16:creationId xmlns:a16="http://schemas.microsoft.com/office/drawing/2014/main" id="{520CA2D1-5E86-F915-AA1E-C0CA9EE32021}"/>
              </a:ext>
            </a:extLst>
          </p:cNvPr>
          <p:cNvSpPr/>
          <p:nvPr/>
        </p:nvSpPr>
        <p:spPr>
          <a:xfrm>
            <a:off x="0" y="6634480"/>
            <a:ext cx="12192000" cy="4521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5776A2AD-3118-A316-61E5-3EE2DBAA5D87}"/>
              </a:ext>
            </a:extLst>
          </p:cNvPr>
          <p:cNvPicPr>
            <a:picLocks noGrp="1" noChangeAspect="1"/>
          </p:cNvPicPr>
          <p:nvPr>
            <p:ph idx="1"/>
          </p:nvPr>
        </p:nvPicPr>
        <p:blipFill>
          <a:blip r:embed="rId2"/>
          <a:srcRect/>
          <a:stretch/>
        </p:blipFill>
        <p:spPr>
          <a:xfrm>
            <a:off x="1853174" y="295829"/>
            <a:ext cx="10338826" cy="5891611"/>
          </a:xfrm>
        </p:spPr>
      </p:pic>
    </p:spTree>
    <p:extLst>
      <p:ext uri="{BB962C8B-B14F-4D97-AF65-F5344CB8AC3E}">
        <p14:creationId xmlns:p14="http://schemas.microsoft.com/office/powerpoint/2010/main" val="26993992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8250154-b5cd-461a-a5e7-9ef261ae43a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74F4EA74336B4788A5216C14C2E5FF" ma:contentTypeVersion="11" ma:contentTypeDescription="Create a new document." ma:contentTypeScope="" ma:versionID="1a0837c3e397c2fca3c7d4fd000c1a78">
  <xsd:schema xmlns:xsd="http://www.w3.org/2001/XMLSchema" xmlns:xs="http://www.w3.org/2001/XMLSchema" xmlns:p="http://schemas.microsoft.com/office/2006/metadata/properties" xmlns:ns3="a8250154-b5cd-461a-a5e7-9ef261ae43a9" targetNamespace="http://schemas.microsoft.com/office/2006/metadata/properties" ma:root="true" ma:fieldsID="2441202c5344e1940f3d4b66710f5bbd" ns3:_="">
    <xsd:import namespace="a8250154-b5cd-461a-a5e7-9ef261ae43a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bjectDetectorVersions" minOccurs="0"/>
                <xsd:element ref="ns3:MediaServiceSearchProperties" minOccurs="0"/>
                <xsd:element ref="ns3:MediaServiceDateTaken" minOccurs="0"/>
                <xsd:element ref="ns3:MediaServiceSystemTags"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250154-b5cd-461a-a5e7-9ef261ae43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www.w3.org/XML/1998/namespace"/>
    <ds:schemaRef ds:uri="http://purl.org/dc/dcmitype/"/>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a8250154-b5cd-461a-a5e7-9ef261ae43a9"/>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35061290-0D10-42C0-B951-6E45162CB0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250154-b5cd-461a-a5e7-9ef261ae43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 design</Template>
  <TotalTime>1</TotalTime>
  <Words>278</Words>
  <Application>Microsoft Office PowerPoint</Application>
  <PresentationFormat>Widescreen</PresentationFormat>
  <Paragraphs>21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Cambria Math</vt:lpstr>
      <vt:lpstr>Tw Cen MT</vt:lpstr>
      <vt:lpstr>Tw Cen MT Condensed</vt:lpstr>
      <vt:lpstr>Wingdings</vt:lpstr>
      <vt:lpstr>Wingdings 3</vt:lpstr>
      <vt:lpstr>Integral</vt:lpstr>
      <vt:lpstr>USING RESERVOIR COMPUTING TO PREDICT A MEMRISTIVE CHAOTIC SYSTEM</vt:lpstr>
      <vt:lpstr>OVERVIEW</vt:lpstr>
      <vt:lpstr>Central Ideas</vt:lpstr>
      <vt:lpstr>Some chaotic attractors examples</vt:lpstr>
      <vt:lpstr>The memristive system</vt:lpstr>
      <vt:lpstr>PowerPoint Presentation</vt:lpstr>
      <vt:lpstr>METHOD</vt:lpstr>
      <vt:lpstr>Results – Observation Tasks</vt:lpstr>
      <vt:lpstr>Results – Predictions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Mattew Adetayo</dc:creator>
  <cp:lastModifiedBy>Mattew Adetayo</cp:lastModifiedBy>
  <cp:revision>2</cp:revision>
  <dcterms:created xsi:type="dcterms:W3CDTF">2025-09-13T16:03:45Z</dcterms:created>
  <dcterms:modified xsi:type="dcterms:W3CDTF">2025-11-03T21:33:55Z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0x010100AE74F4EA74336B4788A5216C14C2E5FF</vt:lpwstr>
  </property>
  <property fmtid="{D5CDD505-2E9C-101B-9397-08002B2CF9AE}" pid="3" name="MSIP_Label_defa4170-0d19-0005-0004-bc88714345d2_Enabled">
    <vt:lpwstr>true</vt:lpwstr>
  </property>
  <property fmtid="{D5CDD505-2E9C-101B-9397-08002B2CF9AE}" pid="4" name="MSIP_Label_defa4170-0d19-0005-0004-bc88714345d2_SetDate">
    <vt:lpwstr>2025-09-13T18:29:48Z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903663cb-f94d-4d3d-95f5-0e79903e614e</vt:lpwstr>
  </property>
  <property fmtid="{D5CDD505-2E9C-101B-9397-08002B2CF9AE}" pid="8" name="MSIP_Label_defa4170-0d19-0005-0004-bc88714345d2_ActionId">
    <vt:lpwstr>278e7d32-d1ee-46d9-8556-511bb6b15b12</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